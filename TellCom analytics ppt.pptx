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A9779-AEC7-4205-8747-D48008866772}" v="29" dt="2026-10-01T11:56:35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12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jadoun" userId="a6e309cf472a7cce" providerId="LiveId" clId="{911348F4-3F02-47D4-9639-C661C0FF3ADA}"/>
    <pc:docChg chg="undo custSel modSld">
      <pc:chgData name="kiran jadoun" userId="a6e309cf472a7cce" providerId="LiveId" clId="{911348F4-3F02-47D4-9639-C661C0FF3ADA}" dt="2026-10-01T12:51:31.295" v="704" actId="14100"/>
      <pc:docMkLst>
        <pc:docMk/>
      </pc:docMkLst>
      <pc:sldChg chg="modSp mod">
        <pc:chgData name="kiran jadoun" userId="a6e309cf472a7cce" providerId="LiveId" clId="{911348F4-3F02-47D4-9639-C661C0FF3ADA}" dt="2026-10-01T12:51:31.295" v="704" actId="14100"/>
        <pc:sldMkLst>
          <pc:docMk/>
          <pc:sldMk cId="0" sldId="256"/>
        </pc:sldMkLst>
        <pc:spChg chg="mod">
          <ac:chgData name="kiran jadoun" userId="a6e309cf472a7cce" providerId="LiveId" clId="{911348F4-3F02-47D4-9639-C661C0FF3ADA}" dt="2026-10-01T12:10:30.814" v="69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31:14.955" v="0" actId="20577"/>
          <ac:spMkLst>
            <pc:docMk/>
            <pc:sldMk cId="0" sldId="256"/>
            <ac:spMk id="4" creationId="{00000000-0000-0000-0000-000000000000}"/>
          </ac:spMkLst>
        </pc:spChg>
        <pc:picChg chg="mod">
          <ac:chgData name="kiran jadoun" userId="a6e309cf472a7cce" providerId="LiveId" clId="{911348F4-3F02-47D4-9639-C661C0FF3ADA}" dt="2026-10-01T12:51:31.295" v="704" actId="14100"/>
          <ac:picMkLst>
            <pc:docMk/>
            <pc:sldMk cId="0" sldId="256"/>
            <ac:picMk id="29" creationId="{71C82627-DB41-40DB-BC77-5EFE3DF63FBC}"/>
          </ac:picMkLst>
        </pc:picChg>
      </pc:sldChg>
      <pc:sldChg chg="modSp mod">
        <pc:chgData name="kiran jadoun" userId="a6e309cf472a7cce" providerId="LiveId" clId="{911348F4-3F02-47D4-9639-C661C0FF3ADA}" dt="2026-10-01T05:33:17.318" v="2" actId="6549"/>
        <pc:sldMkLst>
          <pc:docMk/>
          <pc:sldMk cId="0" sldId="257"/>
        </pc:sldMkLst>
        <pc:spChg chg="mod">
          <ac:chgData name="kiran jadoun" userId="a6e309cf472a7cce" providerId="LiveId" clId="{911348F4-3F02-47D4-9639-C661C0FF3ADA}" dt="2026-10-01T05:33:17.318" v="2" actId="6549"/>
          <ac:spMkLst>
            <pc:docMk/>
            <pc:sldMk cId="0" sldId="257"/>
            <ac:spMk id="31" creationId="{00000000-0000-0000-0000-000000000000}"/>
          </ac:spMkLst>
        </pc:spChg>
      </pc:sldChg>
      <pc:sldChg chg="delSp modSp mod">
        <pc:chgData name="kiran jadoun" userId="a6e309cf472a7cce" providerId="LiveId" clId="{911348F4-3F02-47D4-9639-C661C0FF3ADA}" dt="2026-10-01T05:46:33.745" v="101"/>
        <pc:sldMkLst>
          <pc:docMk/>
          <pc:sldMk cId="0" sldId="259"/>
        </pc:sldMkLst>
        <pc:spChg chg="mod">
          <ac:chgData name="kiran jadoun" userId="a6e309cf472a7cce" providerId="LiveId" clId="{911348F4-3F02-47D4-9639-C661C0FF3ADA}" dt="2026-10-01T05:43:56.461" v="74" actId="205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2:01.859" v="22" actId="2057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46.058" v="93" actId="255"/>
          <ac:spMkLst>
            <pc:docMk/>
            <pc:sldMk cId="0" sldId="259"/>
            <ac:spMk id="39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1" v="95"/>
          <ac:spMkLst>
            <pc:docMk/>
            <pc:sldMk cId="0" sldId="259"/>
            <ac:spMk id="41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24.592" v="90" actId="255"/>
          <ac:spMkLst>
            <pc:docMk/>
            <pc:sldMk cId="0" sldId="259"/>
            <ac:spMk id="44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5" v="99"/>
          <ac:spMkLst>
            <pc:docMk/>
            <pc:sldMk cId="0" sldId="259"/>
            <ac:spMk id="46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39.061" v="92" actId="255"/>
          <ac:spMkLst>
            <pc:docMk/>
            <pc:sldMk cId="0" sldId="259"/>
            <ac:spMk id="49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3" v="97"/>
          <ac:spMkLst>
            <pc:docMk/>
            <pc:sldMk cId="0" sldId="259"/>
            <ac:spMk id="51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31.650" v="91" actId="255"/>
          <ac:spMkLst>
            <pc:docMk/>
            <pc:sldMk cId="0" sldId="259"/>
            <ac:spMk id="54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5" v="101"/>
          <ac:spMkLst>
            <pc:docMk/>
            <pc:sldMk cId="0" sldId="259"/>
            <ac:spMk id="56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5:50:48.026" v="108" actId="1076"/>
        <pc:sldMkLst>
          <pc:docMk/>
          <pc:sldMk cId="0" sldId="260"/>
        </pc:sldMkLst>
        <pc:spChg chg="mod">
          <ac:chgData name="kiran jadoun" userId="a6e309cf472a7cce" providerId="LiveId" clId="{911348F4-3F02-47D4-9639-C661C0FF3ADA}" dt="2026-10-01T05:49:48.200" v="10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50:29.415" v="1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50:48.026" v="108" actId="1076"/>
          <ac:spMkLst>
            <pc:docMk/>
            <pc:sldMk cId="0" sldId="260"/>
            <ac:spMk id="14" creationId="{C0F85384-6F6C-E83C-FEE3-BA86933F4007}"/>
          </ac:spMkLst>
        </pc:spChg>
      </pc:sldChg>
      <pc:sldChg chg="addSp delSp modSp mod">
        <pc:chgData name="kiran jadoun" userId="a6e309cf472a7cce" providerId="LiveId" clId="{911348F4-3F02-47D4-9639-C661C0FF3ADA}" dt="2026-10-01T06:35:40.975" v="116" actId="14100"/>
        <pc:sldMkLst>
          <pc:docMk/>
          <pc:sldMk cId="0" sldId="261"/>
        </pc:sldMkLst>
        <pc:picChg chg="del">
          <ac:chgData name="kiran jadoun" userId="a6e309cf472a7cce" providerId="LiveId" clId="{911348F4-3F02-47D4-9639-C661C0FF3ADA}" dt="2026-10-01T06:34:02.769" v="109" actId="478"/>
          <ac:picMkLst>
            <pc:docMk/>
            <pc:sldMk cId="0" sldId="261"/>
            <ac:picMk id="8" creationId="{00000000-0000-0000-0000-000000000000}"/>
          </ac:picMkLst>
        </pc:picChg>
        <pc:picChg chg="add mod">
          <ac:chgData name="kiran jadoun" userId="a6e309cf472a7cce" providerId="LiveId" clId="{911348F4-3F02-47D4-9639-C661C0FF3ADA}" dt="2026-10-01T06:35:40.975" v="116" actId="14100"/>
          <ac:picMkLst>
            <pc:docMk/>
            <pc:sldMk cId="0" sldId="261"/>
            <ac:picMk id="15" creationId="{A40D3F14-7360-8DC8-5CFE-F80BA1070025}"/>
          </ac:picMkLst>
        </pc:picChg>
      </pc:sldChg>
      <pc:sldChg chg="delSp modSp mod">
        <pc:chgData name="kiran jadoun" userId="a6e309cf472a7cce" providerId="LiveId" clId="{911348F4-3F02-47D4-9639-C661C0FF3ADA}" dt="2026-10-01T06:45:45.059" v="154" actId="20577"/>
        <pc:sldMkLst>
          <pc:docMk/>
          <pc:sldMk cId="0" sldId="262"/>
        </pc:sldMkLst>
        <pc:spChg chg="del mod">
          <ac:chgData name="kiran jadoun" userId="a6e309cf472a7cce" providerId="LiveId" clId="{911348F4-3F02-47D4-9639-C661C0FF3ADA}" dt="2026-10-01T06:37:18.844" v="119"/>
          <ac:spMkLst>
            <pc:docMk/>
            <pc:sldMk cId="0" sldId="262"/>
            <ac:spMk id="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6:42:12.347" v="120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6:45:45.059" v="154" actId="20577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6:51:04.552" v="157" actId="20577"/>
        <pc:sldMkLst>
          <pc:docMk/>
          <pc:sldMk cId="0" sldId="263"/>
        </pc:sldMkLst>
        <pc:spChg chg="mod">
          <ac:chgData name="kiran jadoun" userId="a6e309cf472a7cce" providerId="LiveId" clId="{911348F4-3F02-47D4-9639-C661C0FF3ADA}" dt="2026-10-01T06:51:04.552" v="157" actId="20577"/>
          <ac:spMkLst>
            <pc:docMk/>
            <pc:sldMk cId="0" sldId="263"/>
            <ac:spMk id="6" creationId="{00000000-0000-0000-0000-000000000000}"/>
          </ac:spMkLst>
        </pc:spChg>
      </pc:sldChg>
      <pc:sldChg chg="addSp modSp mod">
        <pc:chgData name="kiran jadoun" userId="a6e309cf472a7cce" providerId="LiveId" clId="{911348F4-3F02-47D4-9639-C661C0FF3ADA}" dt="2026-10-01T07:42:13.406" v="169" actId="14100"/>
        <pc:sldMkLst>
          <pc:docMk/>
          <pc:sldMk cId="0" sldId="265"/>
        </pc:sldMkLst>
        <pc:spChg chg="mod">
          <ac:chgData name="kiran jadoun" userId="a6e309cf472a7cce" providerId="LiveId" clId="{911348F4-3F02-47D4-9639-C661C0FF3ADA}" dt="2026-10-01T07:26:55.484" v="159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kiran jadoun" userId="a6e309cf472a7cce" providerId="LiveId" clId="{911348F4-3F02-47D4-9639-C661C0FF3ADA}" dt="2026-10-01T07:42:13.406" v="169" actId="14100"/>
          <ac:spMkLst>
            <pc:docMk/>
            <pc:sldMk cId="0" sldId="265"/>
            <ac:spMk id="30" creationId="{C60CC62F-E125-FFCF-E4B6-A8EDC24BB0D9}"/>
          </ac:spMkLst>
        </pc:spChg>
        <pc:picChg chg="mod">
          <ac:chgData name="kiran jadoun" userId="a6e309cf472a7cce" providerId="LiveId" clId="{911348F4-3F02-47D4-9639-C661C0FF3ADA}" dt="2026-10-01T07:41:08.552" v="164" actId="14100"/>
          <ac:picMkLst>
            <pc:docMk/>
            <pc:sldMk cId="0" sldId="265"/>
            <ac:picMk id="7" creationId="{00000000-0000-0000-0000-000000000000}"/>
          </ac:picMkLst>
        </pc:picChg>
        <pc:picChg chg="add mod">
          <ac:chgData name="kiran jadoun" userId="a6e309cf472a7cce" providerId="LiveId" clId="{911348F4-3F02-47D4-9639-C661C0FF3ADA}" dt="2026-10-01T07:39:27.371" v="163" actId="1076"/>
          <ac:picMkLst>
            <pc:docMk/>
            <pc:sldMk cId="0" sldId="265"/>
            <ac:picMk id="29" creationId="{50DDDCAA-9E04-79E8-55B5-9022DE0DF7BF}"/>
          </ac:picMkLst>
        </pc:picChg>
      </pc:sldChg>
      <pc:sldChg chg="modSp mod">
        <pc:chgData name="kiran jadoun" userId="a6e309cf472a7cce" providerId="LiveId" clId="{911348F4-3F02-47D4-9639-C661C0FF3ADA}" dt="2026-10-01T07:55:42.937" v="484"/>
        <pc:sldMkLst>
          <pc:docMk/>
          <pc:sldMk cId="0" sldId="267"/>
        </pc:sldMkLst>
        <pc:spChg chg="mod">
          <ac:chgData name="kiran jadoun" userId="a6e309cf472a7cce" providerId="LiveId" clId="{911348F4-3F02-47D4-9639-C661C0FF3ADA}" dt="2026-10-01T07:55:42.937" v="484"/>
          <ac:spMkLst>
            <pc:docMk/>
            <pc:sldMk cId="0" sldId="267"/>
            <ac:spMk id="15" creationId="{B01B20ED-DAC5-5291-DA3C-0D151B49AB5E}"/>
          </ac:spMkLst>
        </pc:spChg>
      </pc:sldChg>
      <pc:sldChg chg="delSp modSp mod">
        <pc:chgData name="kiran jadoun" userId="a6e309cf472a7cce" providerId="LiveId" clId="{911348F4-3F02-47D4-9639-C661C0FF3ADA}" dt="2026-10-01T07:56:38.491" v="490"/>
        <pc:sldMkLst>
          <pc:docMk/>
          <pc:sldMk cId="0" sldId="268"/>
        </pc:sldMkLst>
        <pc:spChg chg="del mod">
          <ac:chgData name="kiran jadoun" userId="a6e309cf472a7cce" providerId="LiveId" clId="{911348F4-3F02-47D4-9639-C661C0FF3ADA}" dt="2026-10-01T07:56:38.491" v="48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7:56:38.491" v="490"/>
          <ac:spMkLst>
            <pc:docMk/>
            <pc:sldMk cId="0" sldId="268"/>
            <ac:spMk id="40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9:10:53.620" v="493" actId="14100"/>
        <pc:sldMkLst>
          <pc:docMk/>
          <pc:sldMk cId="0" sldId="270"/>
        </pc:sldMkLst>
        <pc:spChg chg="mod">
          <ac:chgData name="kiran jadoun" userId="a6e309cf472a7cce" providerId="LiveId" clId="{911348F4-3F02-47D4-9639-C661C0FF3ADA}" dt="2026-10-01T09:10:40.340" v="491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10:47.023" v="492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10:53.620" v="493" actId="14100"/>
          <ac:spMkLst>
            <pc:docMk/>
            <pc:sldMk cId="0" sldId="270"/>
            <ac:spMk id="17" creationId="{00000000-0000-0000-0000-000000000000}"/>
          </ac:spMkLst>
        </pc:spChg>
      </pc:sldChg>
      <pc:sldChg chg="addSp delSp modSp mod">
        <pc:chgData name="kiran jadoun" userId="a6e309cf472a7cce" providerId="LiveId" clId="{911348F4-3F02-47D4-9639-C661C0FF3ADA}" dt="2026-10-01T09:42:25.587" v="507"/>
        <pc:sldMkLst>
          <pc:docMk/>
          <pc:sldMk cId="0" sldId="271"/>
        </pc:sldMkLst>
        <pc:spChg chg="mod">
          <ac:chgData name="kiran jadoun" userId="a6e309cf472a7cce" providerId="LiveId" clId="{911348F4-3F02-47D4-9639-C661C0FF3ADA}" dt="2026-10-01T09:35:29.663" v="497" actId="1076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9:18:10.219" v="496"/>
          <ac:spMkLst>
            <pc:docMk/>
            <pc:sldMk cId="0" sldId="271"/>
            <ac:spMk id="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42:25.587" v="507"/>
          <ac:spMkLst>
            <pc:docMk/>
            <pc:sldMk cId="0" sldId="271"/>
            <ac:spMk id="28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35:41.323" v="499" actId="14100"/>
          <ac:spMkLst>
            <pc:docMk/>
            <pc:sldMk cId="0" sldId="271"/>
            <ac:spMk id="33" creationId="{00000000-0000-0000-0000-000000000000}"/>
          </ac:spMkLst>
        </pc:spChg>
        <pc:picChg chg="add mod">
          <ac:chgData name="kiran jadoun" userId="a6e309cf472a7cce" providerId="LiveId" clId="{911348F4-3F02-47D4-9639-C661C0FF3ADA}" dt="2026-10-01T09:36:34.311" v="505" actId="1076"/>
          <ac:picMkLst>
            <pc:docMk/>
            <pc:sldMk cId="0" sldId="271"/>
            <ac:picMk id="35" creationId="{AFC158F0-E58A-2A55-ACC4-4F333A8ACD2A}"/>
          </ac:picMkLst>
        </pc:picChg>
      </pc:sldChg>
      <pc:sldChg chg="modSp mod">
        <pc:chgData name="kiran jadoun" userId="a6e309cf472a7cce" providerId="LiveId" clId="{911348F4-3F02-47D4-9639-C661C0FF3ADA}" dt="2026-10-01T10:14:46.924" v="513"/>
        <pc:sldMkLst>
          <pc:docMk/>
          <pc:sldMk cId="0" sldId="272"/>
        </pc:sldMkLst>
        <pc:spChg chg="mod">
          <ac:chgData name="kiran jadoun" userId="a6e309cf472a7cce" providerId="LiveId" clId="{911348F4-3F02-47D4-9639-C661C0FF3ADA}" dt="2026-10-01T10:12:58.486" v="508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3:43.220" v="51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4:00.525" v="511" actId="1410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4:46.924" v="513"/>
          <ac:spMkLst>
            <pc:docMk/>
            <pc:sldMk cId="0" sldId="272"/>
            <ac:spMk id="16" creationId="{00000000-0000-0000-0000-000000000000}"/>
          </ac:spMkLst>
        </pc:spChg>
      </pc:sldChg>
      <pc:sldChg chg="delSp modSp mod">
        <pc:chgData name="kiran jadoun" userId="a6e309cf472a7cce" providerId="LiveId" clId="{911348F4-3F02-47D4-9639-C661C0FF3ADA}" dt="2026-10-01T10:39:17.942" v="553"/>
        <pc:sldMkLst>
          <pc:docMk/>
          <pc:sldMk cId="0" sldId="273"/>
        </pc:sldMkLst>
        <pc:spChg chg="mod">
          <ac:chgData name="kiran jadoun" userId="a6e309cf472a7cce" providerId="LiveId" clId="{911348F4-3F02-47D4-9639-C661C0FF3ADA}" dt="2026-10-01T10:38:43.195" v="551" actId="20577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10:39:17.942" v="553"/>
          <ac:spMkLst>
            <pc:docMk/>
            <pc:sldMk cId="0" sldId="273"/>
            <ac:spMk id="23" creationId="{00000000-0000-0000-0000-000000000000}"/>
          </ac:spMkLst>
        </pc:spChg>
      </pc:sldChg>
      <pc:sldChg chg="addSp delSp modSp mod">
        <pc:chgData name="kiran jadoun" userId="a6e309cf472a7cce" providerId="LiveId" clId="{911348F4-3F02-47D4-9639-C661C0FF3ADA}" dt="2026-10-01T11:26:04.966" v="690" actId="20577"/>
        <pc:sldMkLst>
          <pc:docMk/>
          <pc:sldMk cId="0" sldId="274"/>
        </pc:sldMkLst>
        <pc:spChg chg="mod">
          <ac:chgData name="kiran jadoun" userId="a6e309cf472a7cce" providerId="LiveId" clId="{911348F4-3F02-47D4-9639-C661C0FF3ADA}" dt="2026-10-01T11:26:04.966" v="690" actId="20577"/>
          <ac:spMkLst>
            <pc:docMk/>
            <pc:sldMk cId="0" sldId="274"/>
            <ac:spMk id="4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28.690" v="640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44.148" v="645" actId="2057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54.211" v="648" actId="20577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11:05:43.421" v="628" actId="478"/>
          <ac:spMkLst>
            <pc:docMk/>
            <pc:sldMk cId="0" sldId="274"/>
            <ac:spMk id="16" creationId="{539878B4-6FB2-CC19-4BCA-07B46F551CD6}"/>
          </ac:spMkLst>
        </pc:spChg>
        <pc:spChg chg="add mod">
          <ac:chgData name="kiran jadoun" userId="a6e309cf472a7cce" providerId="LiveId" clId="{911348F4-3F02-47D4-9639-C661C0FF3ADA}" dt="2026-10-01T11:16:48.849" v="657" actId="1076"/>
          <ac:spMkLst>
            <pc:docMk/>
            <pc:sldMk cId="0" sldId="274"/>
            <ac:spMk id="17" creationId="{C67ADE2B-AD1C-C67E-4577-329737E67BBB}"/>
          </ac:spMkLst>
        </pc:spChg>
        <pc:picChg chg="add mod">
          <ac:chgData name="kiran jadoun" userId="a6e309cf472a7cce" providerId="LiveId" clId="{911348F4-3F02-47D4-9639-C661C0FF3ADA}" dt="2026-10-01T11:23:26.443" v="670" actId="1076"/>
          <ac:picMkLst>
            <pc:docMk/>
            <pc:sldMk cId="0" sldId="274"/>
            <ac:picMk id="19" creationId="{6DE34DDC-6C3E-128A-6C27-9107CD824B23}"/>
          </ac:picMkLst>
        </pc:picChg>
      </pc:sldChg>
      <pc:sldChg chg="addSp modSp mod">
        <pc:chgData name="kiran jadoun" userId="a6e309cf472a7cce" providerId="LiveId" clId="{911348F4-3F02-47D4-9639-C661C0FF3ADA}" dt="2026-10-01T11:30:47.158" v="698" actId="14100"/>
        <pc:sldMkLst>
          <pc:docMk/>
          <pc:sldMk cId="0" sldId="275"/>
        </pc:sldMkLst>
        <pc:spChg chg="mod">
          <ac:chgData name="kiran jadoun" userId="a6e309cf472a7cce" providerId="LiveId" clId="{911348F4-3F02-47D4-9639-C661C0FF3ADA}" dt="2026-10-01T11:30:41.247" v="697" actId="1076"/>
          <ac:spMkLst>
            <pc:docMk/>
            <pc:sldMk cId="0" sldId="275"/>
            <ac:spMk id="6" creationId="{00000000-0000-0000-0000-000000000000}"/>
          </ac:spMkLst>
        </pc:spChg>
        <pc:spChg chg="add mod">
          <ac:chgData name="kiran jadoun" userId="a6e309cf472a7cce" providerId="LiveId" clId="{911348F4-3F02-47D4-9639-C661C0FF3ADA}" dt="2026-10-01T11:30:30.945" v="696"/>
          <ac:spMkLst>
            <pc:docMk/>
            <pc:sldMk cId="0" sldId="275"/>
            <ac:spMk id="11" creationId="{673D59EE-6CC4-4ED5-5407-B7214729D56C}"/>
          </ac:spMkLst>
        </pc:spChg>
        <pc:picChg chg="mod">
          <ac:chgData name="kiran jadoun" userId="a6e309cf472a7cce" providerId="LiveId" clId="{911348F4-3F02-47D4-9639-C661C0FF3ADA}" dt="2026-10-01T11:30:47.158" v="698" actId="14100"/>
          <ac:picMkLst>
            <pc:docMk/>
            <pc:sldMk cId="0" sldId="275"/>
            <ac:picMk id="10" creationId="{211E7538-CC2F-91C7-E053-20442B1E47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14608"/>
            <a:ext cx="12191695" cy="7125036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8096" y="896112"/>
            <a:ext cx="106984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IN" sz="6000" dirty="0">
                <a:latin typeface="+mj-lt"/>
              </a:rPr>
              <a:t>Tellco Customer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6866" y="3160455"/>
            <a:ext cx="572600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2274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</a:rPr>
              <a:t>NextHikes IT Solutions</a:t>
            </a:r>
            <a:r>
              <a:rPr lang="en-IN" dirty="0"/>
              <a:t>IT Solutions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473951" y="545896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545896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52760" y="614476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B4C3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978339-5458-BE28-D85C-779B6B9F8812}"/>
              </a:ext>
            </a:extLst>
          </p:cNvPr>
          <p:cNvSpPr txBox="1"/>
          <p:nvPr/>
        </p:nvSpPr>
        <p:spPr>
          <a:xfrm>
            <a:off x="5700839" y="343911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C75EA-A959-CEF1-D046-E137D561507C}"/>
              </a:ext>
            </a:extLst>
          </p:cNvPr>
          <p:cNvSpPr txBox="1"/>
          <p:nvPr/>
        </p:nvSpPr>
        <p:spPr>
          <a:xfrm>
            <a:off x="4632111" y="4675409"/>
            <a:ext cx="267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Kiran Jadoun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1C82627-DB41-40DB-BC77-5EFE3DF6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56" y="1761474"/>
            <a:ext cx="4004579" cy="4035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Problem &amp; 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394960" cy="3493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Telecom networks generate large volumes of XDR (eXtended Detail Record) data, capturing customer activity across calls, data usage and network interactions. However, raw session-level records do not directly reveal customer behavior, engagement patterns, network experience or satisfaction. This project transforms XDR data into meaningful customer-level insights to identify usage patterns, experience gaps and service optimization opportunities.</a:t>
            </a:r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Four analytical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97480"/>
            <a:ext cx="49834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2151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rPr dirty="0"/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4CFC8-3E29-77C5-7B87-E918090C18A8}"/>
              </a:ext>
            </a:extLst>
          </p:cNvPr>
          <p:cNvSpPr txBox="1"/>
          <p:nvPr/>
        </p:nvSpPr>
        <p:spPr>
          <a:xfrm>
            <a:off x="6319880" y="1828800"/>
            <a:ext cx="53035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01 — User Overview</a:t>
            </a:r>
          </a:p>
          <a:p>
            <a:r>
              <a:rPr lang="en-US" dirty="0"/>
              <a:t>Understand the customer base through demographics, customer segments and overall usage patterns.</a:t>
            </a:r>
          </a:p>
          <a:p>
            <a:endParaRPr lang="en-US" dirty="0"/>
          </a:p>
          <a:p>
            <a:r>
              <a:rPr lang="en-US" b="1" dirty="0"/>
              <a:t>02 — User Engagement</a:t>
            </a:r>
          </a:p>
          <a:p>
            <a:r>
              <a:rPr lang="en-US" dirty="0"/>
              <a:t>Measure customer engagement using session activity, data usage, call activity and interaction frequency.</a:t>
            </a:r>
          </a:p>
          <a:p>
            <a:endParaRPr lang="en-US" dirty="0"/>
          </a:p>
          <a:p>
            <a:r>
              <a:rPr lang="en-US" b="1" dirty="0"/>
              <a:t>03 — User Experience</a:t>
            </a:r>
          </a:p>
          <a:p>
            <a:r>
              <a:rPr lang="en-US" dirty="0"/>
              <a:t>Evaluate network experience through session performance, throughput, latency and service quality indicators.</a:t>
            </a:r>
          </a:p>
          <a:p>
            <a:endParaRPr lang="en-US" dirty="0"/>
          </a:p>
          <a:p>
            <a:r>
              <a:rPr lang="en-US" b="1" dirty="0"/>
              <a:t>04 — User Satisfaction</a:t>
            </a:r>
          </a:p>
          <a:p>
            <a:r>
              <a:rPr lang="en-US" dirty="0"/>
              <a:t>Combine engagement and experience metrics to identify customer satisfaction levels and segment-level patterns.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3376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Overview &amp;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raw telecom xDR dataset contains 150,001 records and 55 columns; analysis is ultimately performed at customer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150,001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22860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Telecom </a:t>
            </a:r>
            <a:r>
              <a:rPr b="1" dirty="0" err="1"/>
              <a:t>xDR</a:t>
            </a:r>
            <a:r>
              <a:rPr b="1" dirty="0"/>
              <a:t> session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RAW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Identifiers, timestamps, network and app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Unique MSISDNs in user-level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85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USABLE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148,935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After removing records missing MSISDN / Start / 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788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Core data-preparation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2461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Profile 55 columns &amp; data types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Treat numerical missing values by column mean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Remove records missing critical customer/time identifiers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Detect &amp; treat numerical outliers with IQR + mean replacement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Validate duplicates and create customer-level feature datasets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88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Key analytical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246120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b="1" dirty="0"/>
              <a:t>Customer: MSISDN </a:t>
            </a:r>
            <a:r>
              <a:rPr lang="en-IN" b="1" dirty="0"/>
              <a:t>,</a:t>
            </a:r>
            <a:r>
              <a:rPr b="1" dirty="0"/>
              <a:t> Handset Type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Usage: </a:t>
            </a:r>
            <a:r>
              <a:rPr dirty="0" err="1"/>
              <a:t>xDR</a:t>
            </a:r>
            <a:r>
              <a:rPr dirty="0"/>
              <a:t> sessions, duration, DL/UL traffic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Network: TCP retransmission, RTT, throughput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Applications: Social Media, Google, Email, YouTube, Netflix, Gaming, 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806440"/>
            <a:ext cx="512064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08789"/>
                </a:solidFill>
                <a:latin typeface="Aptos"/>
              </a:defRPr>
            </a:pPr>
            <a:r>
              <a:rPr dirty="0"/>
              <a:t>Quality note: </a:t>
            </a:r>
            <a:r>
              <a:rPr lang="en-IN" dirty="0"/>
              <a:t>No duplicate records remain after data cleaning.</a:t>
            </a: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Preparation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752847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Cleaning and transformation create consistent customer-level analytical datasets </a:t>
            </a:r>
            <a:r>
              <a:rPr lang="en-IN" dirty="0"/>
              <a:t>and features for task 1-4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123444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150,001 ×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34640" y="141732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Missing + 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41732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1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423160"/>
            <a:ext cx="1737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106,856 </a:t>
            </a:r>
            <a:r>
              <a:rPr lang="en-IN" dirty="0"/>
              <a:t>customers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114031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141732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Clustering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92640" y="1417320"/>
            <a:ext cx="73152" cy="123444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57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423160"/>
            <a:ext cx="1737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K-Means </a:t>
            </a:r>
            <a:r>
              <a:rPr lang="en-IN" dirty="0"/>
              <a:t>clustering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9436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Derived customer-level features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566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" y="3566160"/>
            <a:ext cx="73152" cy="9601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3730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Engagement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 err="1"/>
              <a:t>xDR</a:t>
            </a:r>
            <a:r>
              <a:rPr lang="fr-FR" dirty="0"/>
              <a:t> sessions • session duration • total </a:t>
            </a:r>
            <a:r>
              <a:rPr lang="fr-FR" dirty="0" err="1"/>
              <a:t>traffic</a:t>
            </a:r>
            <a:endParaRPr lang="fr-FR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758952" y="4041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 dirty="0"/>
          </a:p>
        </p:txBody>
      </p:sp>
      <p:sp>
        <p:nvSpPr>
          <p:cNvPr id="42" name="Rounded Rectangle 41"/>
          <p:cNvSpPr/>
          <p:nvPr/>
        </p:nvSpPr>
        <p:spPr>
          <a:xfrm>
            <a:off x="6172200" y="3566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72200" y="3566160"/>
            <a:ext cx="73152" cy="96012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6792" y="3730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Experience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TCP retransmission • RTT • throughput • handset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336792" y="4041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94360" y="4709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" y="4709160"/>
            <a:ext cx="73152" cy="9601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4873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Satisfaction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/>
              <a:t>{Engagement Score + Experience Score}/2 → Satisfaction Score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58952" y="5184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172200" y="4709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72200" y="4709160"/>
            <a:ext cx="73152" cy="96012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4873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Application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/>
              <a:t>7 application data volumes + </a:t>
            </a:r>
            <a:r>
              <a:rPr lang="fr-FR" dirty="0" err="1"/>
              <a:t>deciles</a:t>
            </a:r>
            <a:r>
              <a:rPr lang="fr-FR" dirty="0"/>
              <a:t> + </a:t>
            </a:r>
            <a:r>
              <a:rPr lang="fr-FR" dirty="0" err="1"/>
              <a:t>correlation</a:t>
            </a:r>
            <a:r>
              <a:rPr lang="fr-FR" dirty="0"/>
              <a:t> + PCA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6336792" y="5184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08789"/>
                </a:solidFill>
                <a:latin typeface="Aptos"/>
              </a:defRPr>
            </a:pPr>
            <a:r>
              <a:t>All downstream analytical datasets validate to 106,856 customers with 0 duplicate IDs and 0 missing values.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Overview — Devices &amp; Manufacturers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device landscape is concentrated around three major manufacturers, with Huawei B528S-23A the most frequently observed handset.</a:t>
            </a:r>
          </a:p>
        </p:txBody>
      </p:sp>
      <p:pic>
        <p:nvPicPr>
          <p:cNvPr id="7" name="Picture 6" descr="8a06_cell7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34440"/>
            <a:ext cx="5879225" cy="3406100"/>
          </a:xfrm>
          <a:prstGeom prst="rect">
            <a:avLst/>
          </a:prstGeom>
        </p:spPr>
      </p:pic>
      <p:pic>
        <p:nvPicPr>
          <p:cNvPr id="8" name="Picture 7" descr="8a06_cell8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95" y="1308791"/>
            <a:ext cx="5080085" cy="3367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0345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744"/>
                </a:solidFill>
                <a:latin typeface="Aptos"/>
              </a:defRPr>
            </a:pPr>
            <a:r>
              <a:t>Top manufacturer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5061"/>
            <a:ext cx="6850049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8323E"/>
                </a:solidFill>
                <a:latin typeface="Aptos"/>
              </a:defRPr>
            </a:pPr>
            <a:r>
              <a:rPr dirty="0"/>
              <a:t>Apple 59,464  •  Samsung 40,579  •  Huawei 34,366  |  Top handset: Huawei B528S-23A (19,727 observations)</a:t>
            </a:r>
            <a:endParaRPr lang="en-IN" dirty="0"/>
          </a:p>
          <a:p>
            <a:pPr algn="l">
              <a:defRPr sz="1300" b="0">
                <a:solidFill>
                  <a:srgbClr val="28323E"/>
                </a:solidFill>
                <a:latin typeface="Aptos"/>
              </a:defRPr>
            </a:pPr>
            <a:endParaRPr lang="en-IN" dirty="0"/>
          </a:p>
          <a:p>
            <a:pPr>
              <a:defRPr sz="1300" b="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Marketing implication: Focus device-specific campaigns and compatibility offers around the most-used Apple, Samsung and Huawei handsets.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85384-6F6C-E83C-FEE3-BA86933F4007}"/>
              </a:ext>
            </a:extLst>
          </p:cNvPr>
          <p:cNvSpPr txBox="1"/>
          <p:nvPr/>
        </p:nvSpPr>
        <p:spPr>
          <a:xfrm>
            <a:off x="7824084" y="4850224"/>
            <a:ext cx="4367916" cy="1713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Top 5 Handsets By Manufacturer</a:t>
            </a:r>
          </a:p>
          <a:p>
            <a:endParaRPr lang="en-IN" sz="1000" b="1" dirty="0"/>
          </a:p>
          <a:p>
            <a:r>
              <a:rPr lang="en-IN" sz="1000" b="1" dirty="0"/>
              <a:t>Apple:</a:t>
            </a:r>
          </a:p>
          <a:p>
            <a:r>
              <a:rPr lang="en-IN" sz="1000" b="1" dirty="0"/>
              <a:t>iPhone 6S • iPhone 6 • iPhone 7 • iPhone SE • iPhone 8</a:t>
            </a:r>
          </a:p>
          <a:p>
            <a:endParaRPr lang="en-IN" sz="1000" b="1" dirty="0"/>
          </a:p>
          <a:p>
            <a:r>
              <a:rPr lang="en-IN" sz="1000" b="1" dirty="0"/>
              <a:t>Samsung:</a:t>
            </a:r>
          </a:p>
          <a:p>
            <a:r>
              <a:rPr lang="en-IN" sz="1000" b="1" dirty="0"/>
              <a:t>Galaxy S8 • Galaxy A5 • Galaxy J5 • Galaxy J3 • Galaxy S7</a:t>
            </a:r>
          </a:p>
          <a:p>
            <a:endParaRPr lang="en-IN" sz="1000" b="1" dirty="0"/>
          </a:p>
          <a:p>
            <a:r>
              <a:rPr lang="en-IN" sz="1000" b="1" dirty="0"/>
              <a:t>Huawei:</a:t>
            </a:r>
          </a:p>
          <a:p>
            <a:r>
              <a:rPr lang="en-IN" sz="1000" b="1" dirty="0"/>
              <a:t>B528S-23A • E5180 • P20 Lite/Nova 3E • P20 • Y6 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Overview — Application Usage &amp; 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Application usage is highly correlated across categories; PCA shows that one dominant component captures most of the common usage variation.</a:t>
            </a:r>
          </a:p>
        </p:txBody>
      </p:sp>
      <p:pic>
        <p:nvPicPr>
          <p:cNvPr id="7" name="Picture 6" descr="8a06_cell6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77840" cy="4215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447509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744"/>
                </a:solidFill>
                <a:latin typeface="Aptos"/>
              </a:defRPr>
            </a:pPr>
            <a:r>
              <a:rPr dirty="0"/>
              <a:t>Key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" y="5691781"/>
            <a:ext cx="11505895" cy="70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Gaming and Other dominate total application traffic; Gaming ≈ 6.41×10¹³ bytes and Other ≈ 6.40×10¹³ bytes.</a:t>
            </a:r>
          </a:p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Strongest application correlation: YouTube–Netflix r = 0.74.</a:t>
            </a:r>
          </a:p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PC1 explains 70.74% of variance; PC1–PC3 together explain 82.47%.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D3F14-7360-8DC8-5CFE-F80BA107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981" y="1394030"/>
            <a:ext cx="5784196" cy="38383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-124835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Engagement — What We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Engagement is quantified using session frequency, total session duration and total network traffic at customer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SESSION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xDR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Number of data sessions per customer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SESSION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Total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Cumulative session time in milliseconds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NETWORK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DL + UL bytes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Total download + upload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2742565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IN" dirty="0"/>
              <a:t>Engagement Metrics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124479"/>
            <a:ext cx="4974814" cy="262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Session frequency, total session duration and total traffic are aggregated at customer level.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session frequency: 18 sessions.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total session duration: 2.09×10⁶ </a:t>
            </a:r>
            <a:r>
              <a:rPr lang="en-US" b="1" dirty="0" err="1"/>
              <a:t>ms.</a:t>
            </a:r>
            <a:endParaRPr lang="en-US" b="1" dirty="0"/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total traffic: 8.85×10⁹ bytes.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Top customers differ across the three metrics, showing distinct engagement patterns.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The three engagement metrics are standardized before K-Means clustering.</a:t>
            </a:r>
            <a:endParaRPr b="1" dirty="0"/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82791" y="3108325"/>
            <a:ext cx="5684367" cy="287105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IN" dirty="0"/>
              <a:t>Standardization Before K-Means</a:t>
            </a:r>
          </a:p>
          <a:p>
            <a:pPr algn="ctr">
              <a:defRPr sz="1600" b="1">
                <a:solidFill>
                  <a:srgbClr val="122744"/>
                </a:solidFill>
                <a:latin typeface="Aptos"/>
              </a:defRPr>
            </a:pPr>
            <a:endParaRPr lang="en-IN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StandardScaler was applied to the three engagement metrics.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endParaRPr lang="en-US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session frequency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session duration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total traffic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endParaRPr lang="en-US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Standardization prevents different measurement scales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from dominating clustering distance.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Engagement Clustering — Selecting K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DE1F0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621266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The Elbow Method indicates K = 3 as the selected value for final engagement clustering</a:t>
            </a:r>
            <a:r>
              <a:rPr dirty="0"/>
              <a:t>.</a:t>
            </a:r>
          </a:p>
        </p:txBody>
      </p:sp>
      <p:pic>
        <p:nvPicPr>
          <p:cNvPr id="7" name="Picture 6" descr="f09a_cell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669280" cy="3677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Elbow evidence</a:t>
            </a:r>
            <a:r>
              <a:rPr lang="en-IN" dirty="0"/>
              <a:t> – K =3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84632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K=2: 159,909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K=3: 105,613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K=4: 90,316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K=3 is </a:t>
            </a:r>
            <a:r>
              <a:rPr lang="en-IN" dirty="0"/>
              <a:t>selected for</a:t>
            </a:r>
            <a:r>
              <a:rPr dirty="0"/>
              <a:t> the final engagement segmentation.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Final engagement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23360"/>
            <a:ext cx="1828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4023360"/>
            <a:ext cx="73152" cy="11430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1" y="4187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449884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4,409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5029200"/>
            <a:ext cx="15544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4.1% of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023360"/>
            <a:ext cx="1828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4023360"/>
            <a:ext cx="73152" cy="114300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4187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49884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22,476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5029200"/>
            <a:ext cx="15544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21.0%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43429" y="4023360"/>
            <a:ext cx="1399429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07040" y="4023360"/>
            <a:ext cx="73152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71632" y="4187952"/>
            <a:ext cx="822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4498848"/>
            <a:ext cx="11712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79,971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5029200"/>
            <a:ext cx="822959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74.8%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321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737D"/>
                </a:solidFill>
                <a:latin typeface="Aptos"/>
              </a:defRPr>
            </a:pPr>
            <a:r>
              <a:rPr dirty="0"/>
              <a:t>Labels are assigned from cluster-wise mean engagement metrics, not from the numerical cluster IDs themselves.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AFA7-4F04-7167-84BE-ADB7C6A5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97A0B-7673-9308-2DCF-6F92487F1A2C}"/>
              </a:ext>
            </a:extLst>
          </p:cNvPr>
          <p:cNvSpPr/>
          <p:nvPr/>
        </p:nvSpPr>
        <p:spPr>
          <a:xfrm>
            <a:off x="0" y="0"/>
            <a:ext cx="1225296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4A6F7-3D21-CAA6-3FDB-B2B57F0B51B6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Engagement Clusters – Interpreting Customer Intensity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DBB67-A199-5912-664C-01CC4C662C8A}"/>
              </a:ext>
            </a:extLst>
          </p:cNvPr>
          <p:cNvSpPr txBox="1"/>
          <p:nvPr/>
        </p:nvSpPr>
        <p:spPr>
          <a:xfrm>
            <a:off x="530352" y="804672"/>
            <a:ext cx="585365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Cluster interpretation is based on the original, no-normalized engagement metrics.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204F0C-7E1F-75BA-6D21-C4599869BEBA}"/>
              </a:ext>
            </a:extLst>
          </p:cNvPr>
          <p:cNvSpPr/>
          <p:nvPr/>
        </p:nvSpPr>
        <p:spPr>
          <a:xfrm>
            <a:off x="502920" y="1371600"/>
            <a:ext cx="201168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C9417-677D-F38D-BC51-ACEF344EE3D5}"/>
              </a:ext>
            </a:extLst>
          </p:cNvPr>
          <p:cNvSpPr/>
          <p:nvPr/>
        </p:nvSpPr>
        <p:spPr>
          <a:xfrm>
            <a:off x="2514600" y="1371600"/>
            <a:ext cx="146304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79F4CF-A644-7FDB-5BC1-866EE5E97F9D}"/>
              </a:ext>
            </a:extLst>
          </p:cNvPr>
          <p:cNvSpPr/>
          <p:nvPr/>
        </p:nvSpPr>
        <p:spPr>
          <a:xfrm>
            <a:off x="3977640" y="1371600"/>
            <a:ext cx="182880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14A9F-212F-CEAD-2D90-4A8B09EE29EC}"/>
              </a:ext>
            </a:extLst>
          </p:cNvPr>
          <p:cNvSpPr/>
          <p:nvPr/>
        </p:nvSpPr>
        <p:spPr>
          <a:xfrm>
            <a:off x="5806440" y="1371600"/>
            <a:ext cx="228600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Duration (ms)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50BE3-D4AE-2934-3E7E-2BD5399DACC6}"/>
              </a:ext>
            </a:extLst>
          </p:cNvPr>
          <p:cNvSpPr/>
          <p:nvPr/>
        </p:nvSpPr>
        <p:spPr>
          <a:xfrm>
            <a:off x="8092440" y="1371600"/>
            <a:ext cx="246888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Traffic (bytes)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4117B-122A-6662-B6AD-FD21E97EA70A}"/>
              </a:ext>
            </a:extLst>
          </p:cNvPr>
          <p:cNvSpPr/>
          <p:nvPr/>
        </p:nvSpPr>
        <p:spPr>
          <a:xfrm>
            <a:off x="502920" y="19202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99168"/>
                </a:solidFill>
                <a:latin typeface="Aptos"/>
              </a:defRPr>
            </a:pPr>
            <a:r>
              <a:t>High Engagement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6C41C7-DF80-42ED-8501-3A75FD9D9E40}"/>
              </a:ext>
            </a:extLst>
          </p:cNvPr>
          <p:cNvSpPr/>
          <p:nvPr/>
        </p:nvSpPr>
        <p:spPr>
          <a:xfrm>
            <a:off x="2514600" y="1920240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4,409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8A829D-CA43-745E-78C0-EA3656DE7620}"/>
              </a:ext>
            </a:extLst>
          </p:cNvPr>
          <p:cNvSpPr/>
          <p:nvPr/>
        </p:nvSpPr>
        <p:spPr>
          <a:xfrm>
            <a:off x="3977640" y="1920240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4.18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EFC463-AEC4-E8B0-1DAA-BB26A372C95D}"/>
              </a:ext>
            </a:extLst>
          </p:cNvPr>
          <p:cNvSpPr/>
          <p:nvPr/>
        </p:nvSpPr>
        <p:spPr>
          <a:xfrm>
            <a:off x="5806440" y="1920240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447,436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809846-C515-AC2B-78EF-D56E99CB9428}"/>
              </a:ext>
            </a:extLst>
          </p:cNvPr>
          <p:cNvSpPr/>
          <p:nvPr/>
        </p:nvSpPr>
        <p:spPr>
          <a:xfrm>
            <a:off x="8092440" y="1920240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2.16×10⁹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57CD56-84B5-686F-540E-8FCAA29B6A54}"/>
              </a:ext>
            </a:extLst>
          </p:cNvPr>
          <p:cNvSpPr/>
          <p:nvPr/>
        </p:nvSpPr>
        <p:spPr>
          <a:xfrm>
            <a:off x="502920" y="3178782"/>
            <a:ext cx="201168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B5C8B"/>
                </a:solidFill>
                <a:latin typeface="Aptos"/>
              </a:defRPr>
            </a:pPr>
            <a:r>
              <a:rPr dirty="0"/>
              <a:t>Low Engagement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778774-25C3-D6E0-BFA0-C76B6DF83FB9}"/>
              </a:ext>
            </a:extLst>
          </p:cNvPr>
          <p:cNvSpPr/>
          <p:nvPr/>
        </p:nvSpPr>
        <p:spPr>
          <a:xfrm>
            <a:off x="2514601" y="3236976"/>
            <a:ext cx="14630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79,971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3B7CA1-CCE5-FC66-DF5C-4DC87B33CB1D}"/>
              </a:ext>
            </a:extLst>
          </p:cNvPr>
          <p:cNvSpPr/>
          <p:nvPr/>
        </p:nvSpPr>
        <p:spPr>
          <a:xfrm>
            <a:off x="3977640" y="3229982"/>
            <a:ext cx="182880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1.03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C884D-BC4B-E0C4-F4B8-06532E817DFF}"/>
              </a:ext>
            </a:extLst>
          </p:cNvPr>
          <p:cNvSpPr/>
          <p:nvPr/>
        </p:nvSpPr>
        <p:spPr>
          <a:xfrm>
            <a:off x="5806441" y="3214875"/>
            <a:ext cx="228600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94,069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4DA21-1F00-C9B1-3D6D-D96D09242FE3}"/>
              </a:ext>
            </a:extLst>
          </p:cNvPr>
          <p:cNvSpPr/>
          <p:nvPr/>
        </p:nvSpPr>
        <p:spPr>
          <a:xfrm>
            <a:off x="8092439" y="3229982"/>
            <a:ext cx="246888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4.98×10⁸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9F2FC3-2C8F-C79C-A407-31CAC686C0E9}"/>
              </a:ext>
            </a:extLst>
          </p:cNvPr>
          <p:cNvSpPr/>
          <p:nvPr/>
        </p:nvSpPr>
        <p:spPr>
          <a:xfrm>
            <a:off x="502921" y="2576545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E18B37"/>
                </a:solidFill>
                <a:latin typeface="Aptos"/>
              </a:defRPr>
            </a:pPr>
            <a:r>
              <a:rPr dirty="0"/>
              <a:t>Medium Engagement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A82A77-505F-B8F3-F3FE-57DFAEA4F96C}"/>
              </a:ext>
            </a:extLst>
          </p:cNvPr>
          <p:cNvSpPr/>
          <p:nvPr/>
        </p:nvSpPr>
        <p:spPr>
          <a:xfrm>
            <a:off x="2514601" y="2596896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22,476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822F4-BB7C-626C-DEFF-9161F0C10284}"/>
              </a:ext>
            </a:extLst>
          </p:cNvPr>
          <p:cNvSpPr/>
          <p:nvPr/>
        </p:nvSpPr>
        <p:spPr>
          <a:xfrm>
            <a:off x="3977641" y="2570024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2.14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C9AF9-2FDE-97AA-FEB0-770A0679236E}"/>
              </a:ext>
            </a:extLst>
          </p:cNvPr>
          <p:cNvSpPr/>
          <p:nvPr/>
        </p:nvSpPr>
        <p:spPr>
          <a:xfrm>
            <a:off x="5806441" y="2578608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194,411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4FF00-3968-D69C-DFA8-85699775EBF9}"/>
              </a:ext>
            </a:extLst>
          </p:cNvPr>
          <p:cNvSpPr/>
          <p:nvPr/>
        </p:nvSpPr>
        <p:spPr>
          <a:xfrm>
            <a:off x="8092440" y="2593878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1.09×10⁹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CE04D0-760B-B8BD-3C06-3526FA27C8FD}"/>
              </a:ext>
            </a:extLst>
          </p:cNvPr>
          <p:cNvSpPr txBox="1"/>
          <p:nvPr/>
        </p:nvSpPr>
        <p:spPr>
          <a:xfrm>
            <a:off x="502920" y="4097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What the segmentation tells 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02656-D40D-4E29-FE16-E9ADAF181137}"/>
              </a:ext>
            </a:extLst>
          </p:cNvPr>
          <p:cNvSpPr txBox="1"/>
          <p:nvPr/>
        </p:nvSpPr>
        <p:spPr>
          <a:xfrm>
            <a:off x="530352" y="4539052"/>
            <a:ext cx="530351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High Engagement has the highest average sessions, duration and traffic intensity.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Medium Engagement sits between the two groups on average engagement.</a:t>
            </a:r>
            <a:endParaRPr lang="en-IN" dirty="0"/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Low Engagement is the largest segment, with the lowest average values across all three metrics.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endParaRPr dirty="0"/>
          </a:p>
        </p:txBody>
      </p:sp>
      <p:pic>
        <p:nvPicPr>
          <p:cNvPr id="29" name="Picture 28" descr="f09a_cell31_0.png">
            <a:extLst>
              <a:ext uri="{FF2B5EF4-FFF2-40B4-BE49-F238E27FC236}">
                <a16:creationId xmlns:a16="http://schemas.microsoft.com/office/drawing/2014/main" id="{1AB23889-D3C9-4E8A-FA2A-79166A8D6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2" y="3895344"/>
            <a:ext cx="5958838" cy="286150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75B2022-CBE1-2002-6A1C-DE9B65E91B18}"/>
              </a:ext>
            </a:extLst>
          </p:cNvPr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07A23F-A932-8918-6310-ED193DC2F65C}"/>
              </a:ext>
            </a:extLst>
          </p:cNvPr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7396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3002" y="350255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74907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IN" dirty="0"/>
              <a:t>Cluster Statistics — Engagement Metrics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8473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6873FB-8DF7-8F50-20B2-F59DA1D0B898}"/>
              </a:ext>
            </a:extLst>
          </p:cNvPr>
          <p:cNvSpPr txBox="1"/>
          <p:nvPr/>
        </p:nvSpPr>
        <p:spPr>
          <a:xfrm>
            <a:off x="5565913" y="30970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6D9614-4E69-B1B5-ADE4-5CECA43CB628}"/>
              </a:ext>
            </a:extLst>
          </p:cNvPr>
          <p:cNvSpPr txBox="1"/>
          <p:nvPr/>
        </p:nvSpPr>
        <p:spPr>
          <a:xfrm>
            <a:off x="622717" y="804672"/>
            <a:ext cx="938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Non-normalized engagement metrics by High, Medium and Low engagement groups.</a:t>
            </a:r>
            <a:endParaRPr lang="en-IN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1ED91B9-2A36-5B1A-1CA0-2364246CA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249599"/>
              </p:ext>
            </p:extLst>
          </p:nvPr>
        </p:nvGraphicFramePr>
        <p:xfrm>
          <a:off x="715082" y="1371504"/>
          <a:ext cx="8842386" cy="3900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731">
                  <a:extLst>
                    <a:ext uri="{9D8B030D-6E8A-4147-A177-3AD203B41FA5}">
                      <a16:colId xmlns:a16="http://schemas.microsoft.com/office/drawing/2014/main" val="2299946015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1000496866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218415612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4038571580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4194390502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3349909420"/>
                    </a:ext>
                  </a:extLst>
                </a:gridCol>
              </a:tblGrid>
              <a:tr h="1478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Group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Metric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Min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Max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Mean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34407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High Engagement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4.18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18,441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26271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High Engagement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Duration (</a:t>
                      </a:r>
                      <a:r>
                        <a:rPr lang="en-IN" sz="1200" u="none" strike="noStrike" dirty="0" err="1">
                          <a:effectLst/>
                        </a:rPr>
                        <a:t>ms</a:t>
                      </a:r>
                      <a:r>
                        <a:rPr lang="en-IN" sz="1200" u="none" strike="noStrike" dirty="0">
                          <a:effectLst/>
                        </a:rPr>
                        <a:t>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85,554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2.09×10⁶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4,47,436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1.97×10⁹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28111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High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6.62×10⁸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8.85×10⁹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2.16×10⁹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9.53×10¹²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3657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48,193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00955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Duration (ms)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18,235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5.14×10⁵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1,94,411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4.37×10⁹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202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1.67×10⁸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2.51×10⁹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1.09×10⁹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2.45×10¹³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567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1.03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82,301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59283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Duration (ms)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7,142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2.45×10⁵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94,069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7.52×10⁹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734334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3.32×10⁷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9.58×10⁸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4.98×10⁸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3.98×10¹³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8838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478E1868-DFB7-770C-2555-6F656206B49D}"/>
              </a:ext>
            </a:extLst>
          </p:cNvPr>
          <p:cNvSpPr txBox="1"/>
          <p:nvPr/>
        </p:nvSpPr>
        <p:spPr>
          <a:xfrm>
            <a:off x="9780103" y="1289298"/>
            <a:ext cx="229858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TAKEAWAY</a:t>
            </a:r>
          </a:p>
          <a:p>
            <a:endParaRPr lang="en-US" dirty="0"/>
          </a:p>
          <a:p>
            <a:r>
              <a:rPr lang="en-US" sz="1600" b="1" dirty="0"/>
              <a:t>High Engagement shows the highest mean session frequency, duration and traffic, while Low Engagement represents the largest customer group with the lowest average engagement across all three metrics.</a:t>
            </a:r>
          </a:p>
          <a:p>
            <a:endParaRPr lang="en-US" sz="1600" b="1" dirty="0"/>
          </a:p>
          <a:p>
            <a:r>
              <a:rPr lang="en-US" sz="1600" b="1" dirty="0"/>
              <a:t>Statistics are calculated on the original non-normalized engagement metrics.</a:t>
            </a:r>
            <a:endParaRPr lang="en-IN" sz="16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Application-Level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Gaming and Other are the two largest application traffic categories; YouTube is a distant third among the top three.</a:t>
            </a:r>
          </a:p>
        </p:txBody>
      </p:sp>
      <p:pic>
        <p:nvPicPr>
          <p:cNvPr id="7" name="Picture 6" descr="f09a_cell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43585"/>
            <a:ext cx="4770425" cy="1892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Top 3 application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73152" cy="9601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1993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GAMING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2304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6.41×10¹³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83464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Highest total application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971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2971800"/>
            <a:ext cx="73152" cy="96012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1" y="3136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3447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6.40×10¹³ 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3977639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Very close to Gaming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4114800"/>
            <a:ext cx="73152" cy="96012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1" y="4279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4590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3.37×10¹² bytes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512064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Substantially below the top 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40680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50" b="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Top 10 engaged users were computed separately for Social Media, Google, Email, YouTube, Netflix, Gaming and Other.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DDDCAA-9E04-79E8-55B5-9022DE0D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6" y="4292050"/>
            <a:ext cx="5131064" cy="16256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0CC62F-E125-FFCF-E4B6-A8EDC24BB0D9}"/>
              </a:ext>
            </a:extLst>
          </p:cNvPr>
          <p:cNvSpPr txBox="1"/>
          <p:nvPr/>
        </p:nvSpPr>
        <p:spPr>
          <a:xfrm>
            <a:off x="502920" y="3323645"/>
            <a:ext cx="5363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APPLICATION-WISE TOP ENGAGED USERS</a:t>
            </a:r>
          </a:p>
          <a:p>
            <a:endParaRPr lang="en-US" sz="1200" b="1" dirty="0"/>
          </a:p>
          <a:p>
            <a:r>
              <a:rPr lang="en-US" sz="1200" b="1" dirty="0"/>
              <a:t>Top 10 users were derived for each application based on total data traffic.</a:t>
            </a:r>
          </a:p>
          <a:p>
            <a:r>
              <a:rPr lang="en-US" sz="1200" b="1" dirty="0"/>
              <a:t>The table below shows a compact view of the highest-engagement users.</a:t>
            </a:r>
            <a:endParaRPr lang="en-IN" sz="1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Experience — Network Quality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951497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Customer experience is evaluated using TCP retransmission, RTT and throughput, with handset type retained for handset-level analysis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568" y="1343770"/>
            <a:ext cx="3243071" cy="117083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TCP RETRANSMISSION</a:t>
            </a:r>
          </a:p>
          <a:p>
            <a:pPr algn="ctr"/>
            <a:r>
              <a:rPr lang="en-US" dirty="0"/>
              <a:t>TCP DL + TCP UL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25975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THROUGHPUT</a:t>
            </a:r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endParaRPr lang="en-US" sz="1200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(TP DL + TP UL) / 2</a:t>
            </a:r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endParaRPr lang="en-US" sz="1200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Average bearer throughput (kbps)</a:t>
            </a:r>
            <a:endParaRPr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Customer-level experience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37560"/>
            <a:ext cx="49377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TCP Retransmission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RTT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Throughput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Most frequently used Handset Type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106,856 customers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0 duplicate customer IDs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0 missing values</a:t>
            </a:r>
            <a:endParaRPr b="1" dirty="0"/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3C1953-E9FA-9986-1D38-E6CE69B95F21}"/>
              </a:ext>
            </a:extLst>
          </p:cNvPr>
          <p:cNvSpPr txBox="1"/>
          <p:nvPr/>
        </p:nvSpPr>
        <p:spPr>
          <a:xfrm>
            <a:off x="4488152" y="1451259"/>
            <a:ext cx="3168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ROUND TRIP TIME (RTT)</a:t>
            </a:r>
          </a:p>
          <a:p>
            <a:endParaRPr lang="en-IN" sz="1200" b="1" dirty="0"/>
          </a:p>
          <a:p>
            <a:r>
              <a:rPr lang="en-IN" sz="1200" b="1" dirty="0"/>
              <a:t>(RTT DL + RTT UL) / 2</a:t>
            </a:r>
          </a:p>
          <a:p>
            <a:endParaRPr lang="en-IN" sz="1200" b="1" dirty="0"/>
          </a:p>
          <a:p>
            <a:r>
              <a:rPr lang="en-IN" sz="1200" b="1" dirty="0"/>
              <a:t>Average network response time (</a:t>
            </a:r>
            <a:r>
              <a:rPr lang="en-IN" sz="1200" b="1" dirty="0" err="1"/>
              <a:t>ms</a:t>
            </a:r>
            <a:r>
              <a:rPr lang="en-IN" sz="1200" b="1" dirty="0"/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5EC7F4-0486-EED4-006F-71EF9F857D6E}"/>
              </a:ext>
            </a:extLst>
          </p:cNvPr>
          <p:cNvSpPr txBox="1"/>
          <p:nvPr/>
        </p:nvSpPr>
        <p:spPr>
          <a:xfrm>
            <a:off x="734568" y="1444751"/>
            <a:ext cx="3129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TCP RETRANSMISSION</a:t>
            </a:r>
          </a:p>
          <a:p>
            <a:endParaRPr lang="en-US" sz="1200" b="1" dirty="0"/>
          </a:p>
          <a:p>
            <a:r>
              <a:rPr lang="en-US" sz="1200" b="1" dirty="0"/>
              <a:t>TCP DL + TCP UL</a:t>
            </a:r>
          </a:p>
          <a:p>
            <a:endParaRPr lang="en-US" sz="1200" b="1" dirty="0"/>
          </a:p>
          <a:p>
            <a:r>
              <a:rPr lang="en-US" sz="1200" b="1" dirty="0"/>
              <a:t>Combined retransmitted data (Bytes)</a:t>
            </a:r>
            <a:endParaRPr lang="en-IN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8D42A8-F643-13E9-0781-E9788EF28124}"/>
              </a:ext>
            </a:extLst>
          </p:cNvPr>
          <p:cNvSpPr txBox="1"/>
          <p:nvPr/>
        </p:nvSpPr>
        <p:spPr>
          <a:xfrm>
            <a:off x="502920" y="2981739"/>
            <a:ext cx="5593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Experience Data Preparation</a:t>
            </a:r>
          </a:p>
          <a:p>
            <a:endParaRPr lang="en-IN" dirty="0"/>
          </a:p>
          <a:p>
            <a:r>
              <a:rPr lang="en-US" sz="1600" dirty="0"/>
              <a:t>• </a:t>
            </a:r>
            <a:r>
              <a:rPr lang="en-US" sz="1600" b="1" dirty="0"/>
              <a:t>Numerical experience variables: missing values replaced with column mean.              </a:t>
            </a:r>
          </a:p>
          <a:p>
            <a:r>
              <a:rPr lang="en-US" sz="1600" b="1" dirty="0"/>
              <a:t>• Handset Type: missing values replaced with mode.</a:t>
            </a:r>
          </a:p>
          <a:p>
            <a:r>
              <a:rPr lang="en-US" sz="1600" b="1" dirty="0"/>
              <a:t>• IQR method used to detect numerical outliers.</a:t>
            </a:r>
          </a:p>
          <a:p>
            <a:r>
              <a:rPr lang="en-US" sz="1600" b="1" dirty="0"/>
              <a:t>• Detected outliers replaced with the corresponding column mean.</a:t>
            </a:r>
          </a:p>
          <a:p>
            <a:r>
              <a:rPr lang="en-US" sz="1600" b="1" dirty="0"/>
              <a:t>• Combined session-level metrics created for TCP Retransmission, RTT and Throughput.</a:t>
            </a:r>
          </a:p>
          <a:p>
            <a:r>
              <a:rPr lang="en-US" sz="1600" b="1" dirty="0"/>
              <a:t>• Metrics aggregated at customer level using MSISDN.</a:t>
            </a:r>
            <a:endParaRPr lang="en-IN" sz="1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Handset-Level Experience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91734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sz="1600" dirty="0"/>
              <a:t>Observed network experience varies substantially across the most frequently observed handset types.</a:t>
            </a:r>
          </a:p>
        </p:txBody>
      </p:sp>
      <p:pic>
        <p:nvPicPr>
          <p:cNvPr id="7" name="Picture 6" descr="ac9a_cell3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93" y="1234439"/>
            <a:ext cx="5768387" cy="3097271"/>
          </a:xfrm>
          <a:prstGeom prst="rect">
            <a:avLst/>
          </a:prstGeom>
        </p:spPr>
      </p:pic>
      <p:pic>
        <p:nvPicPr>
          <p:cNvPr id="8" name="Picture 7" descr="ac9a_cell3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440680" cy="27203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F5D02-5FEF-A9F2-26A2-5D6FDA24EB2F}"/>
              </a:ext>
            </a:extLst>
          </p:cNvPr>
          <p:cNvSpPr txBox="1"/>
          <p:nvPr/>
        </p:nvSpPr>
        <p:spPr>
          <a:xfrm>
            <a:off x="530352" y="4357315"/>
            <a:ext cx="52104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Observation — Throughput</a:t>
            </a:r>
          </a:p>
          <a:p>
            <a:endParaRPr lang="en-US" sz="1600" b="1" dirty="0"/>
          </a:p>
          <a:p>
            <a:r>
              <a:rPr lang="en-US" sz="1600" b="1" dirty="0"/>
              <a:t>• Huawei B528S-23A shows the highest average throughput among the selected handset types.</a:t>
            </a:r>
          </a:p>
          <a:p>
            <a:endParaRPr lang="en-US" sz="1600" b="1" dirty="0"/>
          </a:p>
          <a:p>
            <a:r>
              <a:rPr lang="en-US" sz="1600" b="1" dirty="0"/>
              <a:t>• Average throughput varies across handset types, indicating differences in observed network performance.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B20ED-DAC5-5291-DA3C-0D151B49AB5E}"/>
              </a:ext>
            </a:extLst>
          </p:cNvPr>
          <p:cNvSpPr txBox="1"/>
          <p:nvPr/>
        </p:nvSpPr>
        <p:spPr>
          <a:xfrm>
            <a:off x="6504167" y="4331710"/>
            <a:ext cx="54406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Observation — TCP Retransmission</a:t>
            </a:r>
          </a:p>
          <a:p>
            <a:endParaRPr lang="en-US" sz="1600" b="1" dirty="0"/>
          </a:p>
          <a:p>
            <a:r>
              <a:rPr lang="en-US" sz="1600" b="1" dirty="0"/>
              <a:t>• TCP retransmission levels vary across the selected handset types.</a:t>
            </a:r>
          </a:p>
          <a:p>
            <a:endParaRPr lang="en-US" sz="1600" b="1" dirty="0"/>
          </a:p>
          <a:p>
            <a:r>
              <a:rPr lang="en-US" sz="1600" b="1" dirty="0"/>
              <a:t>• These are descriptive handset-level differences in observed network performance; they do not establish causality.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Experience Clustering — K =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Customer experience is segmented using standardized TCP retransmission, RTT and throughput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43,998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Mixed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35,909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Stronger experience characteristics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26,949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Relatively weaker characteristics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TCP Retrans.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RTT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Throughput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20.37M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21.61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566160"/>
            <a:ext cx="2606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779 kbps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3.90M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41.08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096512"/>
            <a:ext cx="2606040" cy="576071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9,375 kbps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20.24M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64.13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68351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rPr dirty="0"/>
              <a:t>1,265 kbps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Experience Cluster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DE1F0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Cluster labels are interpreted from their metric profiles, not from the numeric IDs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1 shows stronger network experience characteristics: lowest mean TCP retransmission (~3.90M bytes) and highest mean throughput (~9,375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0 has a mixed profile: lowest mean RTT (~21.61 </a:t>
            </a:r>
            <a:r>
              <a:rPr b="1" dirty="0" err="1"/>
              <a:t>ms</a:t>
            </a:r>
            <a:r>
              <a:rPr b="1" dirty="0"/>
              <a:t>), but high retransmission (~20.37M) and the lowest throughput (~779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2 shows relatively weaker characteristics: high retransmission (~20.24M), highest RTT (~64.13 </a:t>
            </a:r>
            <a:r>
              <a:rPr b="1" dirty="0" err="1"/>
              <a:t>ms</a:t>
            </a:r>
            <a:r>
              <a:rPr b="1" dirty="0"/>
              <a:t>) and relatively low throughput (~1,265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These segments provide a basis for comparing customer engagement with network experience in the satisfaction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8034" y="12781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Experience profile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TCP retransmission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947672"/>
            <a:ext cx="685800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20.37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947672"/>
            <a:ext cx="131301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3.9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95560" y="1947672"/>
            <a:ext cx="681423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9556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20.24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RTT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231095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21.61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090672"/>
            <a:ext cx="439305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41.08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3090672"/>
            <a:ext cx="685800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64.13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4233672"/>
            <a:ext cx="73152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779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233672"/>
            <a:ext cx="685800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9375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4233672"/>
            <a:ext cx="92537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1265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0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37D"/>
                </a:solidFill>
                <a:latin typeface="Aptos"/>
              </a:defRPr>
            </a:pPr>
            <a:r>
              <a:t>Interpretation remains descriptive: handset and cluster differences are observed patterns, not causal effects.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From Engagement &amp; Experience to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Satisfaction is an analytical index derived from the two upstream scores—not a direct survey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ENGAGEMENT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0.036 – 32.070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Distance from the lower-engagement reference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32588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EXPERIENCE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0.068 – 5.340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Distance from the weaker-experience reference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32588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SATISFACTION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0.127 – 16.814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Average of Engagement Score and Experience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Analytical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3886200"/>
            <a:ext cx="105319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D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2744"/>
                </a:solidFill>
                <a:latin typeface="Aptos Display"/>
              </a:defRPr>
            </a:pPr>
            <a:r>
              <a:rPr dirty="0"/>
              <a:t>Satisfaction Score = (Engagement Score + Experience Score) /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t>Higher score = greater distance from the selected lower-engagement and weaker-experience reference clusters.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t>This is a project-derived analytical measure; it should not be presented as a direct customer survey score.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83464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Customer Satisfaction — Top Customers &amp; Score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satisfaction score combines the two upstream analytical scores to rank customers and support segmentation.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Top satisfaction 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7960" y="17830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9476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30552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16.814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7889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32.070 • Experience 1.559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739" y="2779776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26974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8620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3182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16.757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37033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31.582 • Experience 1.931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6118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36118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2" y="37764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91356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16.557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6177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30.977 • Experience 2.137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5262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45262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2552" y="46908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878324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16.419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532120"/>
            <a:ext cx="4297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fr-FR" sz="1600" b="1" dirty="0"/>
              <a:t>Rank 4 — Engagement 30.511 • Experience 2.327</a:t>
            </a:r>
            <a:endParaRPr sz="1600" b="1" dirty="0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394" y="1574358"/>
            <a:ext cx="5199419" cy="2291887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SATISFACTION SCORE PROFILE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lang="en-IN" sz="11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Mean: 1.601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Median: 1.532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75th percentile: 1.955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Minimum: 0.127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Maximum: 16.814</a:t>
            </a:r>
            <a:endParaRPr lang="en-IN" sz="11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lang="en-US" sz="14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lang="en-US" sz="1400" dirty="0"/>
              <a:t>The top-ranked customers are driven primarily by high Engagement Scores, while Experience Scores provide an additional contribution to the combined index.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sz="1100" dirty="0"/>
          </a:p>
          <a:p>
            <a:pPr>
              <a:spcAft>
                <a:spcPts val="700"/>
              </a:spcAft>
              <a:defRPr sz="1350">
                <a:solidFill>
                  <a:srgbClr val="28323E"/>
                </a:solidFill>
                <a:latin typeface="Aptos"/>
              </a:defRPr>
            </a:pPr>
            <a:endParaRPr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FC158F0-E58A-2A55-ACC4-4F333A8AC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78" y="3933891"/>
            <a:ext cx="5793850" cy="2486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Satisfaction Clustering &amp;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K-Means creates two satisfaction-related groups; regression reproduces the mathematically derived satisfaction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59"/>
            <a:ext cx="2468880" cy="1501445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37,238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21945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Mean satisfaction 1.3549</a:t>
            </a:r>
            <a:endParaRPr lang="en-IN" dirty="0"/>
          </a:p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en-IN" dirty="0"/>
              <a:t>Mean experience 0.8731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468880" cy="1501444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73152" cy="114300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4447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755648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69,618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286000"/>
            <a:ext cx="21945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Mean satisfaction 1.7328</a:t>
            </a:r>
            <a:endParaRPr lang="en-IN" dirty="0"/>
          </a:p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en-IN" dirty="0"/>
              <a:t>Mean experience 2.5482</a:t>
            </a:r>
            <a:endParaRPr dirty="0"/>
          </a:p>
        </p:txBody>
      </p:sp>
      <p:pic>
        <p:nvPicPr>
          <p:cNvPr id="17" name="Picture 16" descr="c516_cell1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5361167" cy="40039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2788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Regression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375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73152" cy="10515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502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81304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343400"/>
            <a:ext cx="2011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Exact reproduction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37560"/>
            <a:ext cx="228600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3337560"/>
            <a:ext cx="73152" cy="10515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1432" y="3502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81304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4343400"/>
            <a:ext cx="2011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Exact linear 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493776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sz="1600" b="1" dirty="0"/>
              <a:t>Actual vs predicted values align almost perfectly.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sz="1600" b="1" dirty="0"/>
              <a:t>The result is deterministic because Satisfaction Score is defined from Engagement Score and Experience Score—the same predictors used in regression.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SQL Server Integration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Three customer-level analytical datasets were prepared, validated and uploaded to the TelecomAnalytics SQL Server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32588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Network experience +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Usage metrics +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Scores + satisfaction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2750111"/>
            <a:ext cx="5212079" cy="33547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VALIDATION CHECKS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endParaRPr lang="en-US" sz="1200" dirty="0"/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Customer count: 106,856 in all three datasets.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Experience, Engagement and Satisfaction tables verified.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Sample customer-level records validated for key analytical fields.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Top-10 customers identified using Satisfaction Score.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Row counts validated in SQL Server: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Experience: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Engagement: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Satisfaction: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Satisfaction outputs validated using MSISDN, Engagement Score,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Experience Score, Satisfaction Score and Satisfaction Cluster.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SQL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20440"/>
            <a:ext cx="49377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323E"/>
                </a:solidFill>
                <a:latin typeface="Consolas"/>
              </a:defRPr>
            </a:pPr>
            <a:r>
              <a:t>SELECT TOP (10)</a:t>
            </a:r>
            <a:br/>
            <a:r>
              <a:t>    [MSISDN_Number],</a:t>
            </a:r>
            <a:br/>
            <a:r>
              <a:t>    [Engagement_Score],</a:t>
            </a:r>
            <a:br/>
            <a:r>
              <a:t>    [Experience_Score],</a:t>
            </a:r>
            <a:br/>
            <a:r>
              <a:t>    [Satisfaction_Score],</a:t>
            </a:r>
            <a:br/>
            <a:r>
              <a:t>    [Satisfaction_Cluster]</a:t>
            </a:r>
            <a:br/>
            <a:r>
              <a:t>FROM dbo.Satisfaction;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32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737D"/>
                </a:solidFill>
                <a:latin typeface="Aptos"/>
              </a:defRPr>
            </a:pPr>
            <a:r>
              <a:t>SQL validation script supplied separately; no credentials are shown in the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6284-D99A-7863-6E1B-F6D70F9B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387E84-7544-0E27-63A8-730EEE598ED9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03C3C-EA83-4FBF-66D2-0EFE41F9703B}"/>
              </a:ext>
            </a:extLst>
          </p:cNvPr>
          <p:cNvSpPr txBox="1"/>
          <p:nvPr/>
        </p:nvSpPr>
        <p:spPr>
          <a:xfrm>
            <a:off x="502920" y="128016"/>
            <a:ext cx="479554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IN" dirty="0"/>
              <a:t>SQL Server Validation — Evidence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0ED29-9CE6-7D69-53AA-46CCA8E1B3E5}"/>
              </a:ext>
            </a:extLst>
          </p:cNvPr>
          <p:cNvSpPr txBox="1"/>
          <p:nvPr/>
        </p:nvSpPr>
        <p:spPr>
          <a:xfrm>
            <a:off x="530352" y="804672"/>
            <a:ext cx="621445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SQL queries validate table availability, customer-level records and satisfaction outputs</a:t>
            </a:r>
            <a:r>
              <a:rPr dirty="0"/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6E8059-F777-3BE1-171D-263F97AF3F3D}"/>
              </a:ext>
            </a:extLst>
          </p:cNvPr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09FC7-019E-370F-3854-69531BA03E37}"/>
              </a:ext>
            </a:extLst>
          </p:cNvPr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CA10B55-33B3-7ADD-8845-263C4B4B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1256933"/>
            <a:ext cx="5456981" cy="273462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3EFC26B-A8B2-D91C-6716-9C2976B38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11" y="1089366"/>
            <a:ext cx="5062876" cy="302034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EA686A1-9B1F-E210-8609-DCFC7DBE14F4}"/>
              </a:ext>
            </a:extLst>
          </p:cNvPr>
          <p:cNvSpPr txBox="1"/>
          <p:nvPr/>
        </p:nvSpPr>
        <p:spPr>
          <a:xfrm>
            <a:off x="628153" y="4182386"/>
            <a:ext cx="4126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SQL SERVER DATABASE</a:t>
            </a:r>
          </a:p>
          <a:p>
            <a:r>
              <a:rPr lang="en-IN" sz="1400" b="1" dirty="0"/>
              <a:t>TelecomAnalytics database with</a:t>
            </a:r>
          </a:p>
          <a:p>
            <a:r>
              <a:rPr lang="en-IN" sz="1400" b="1" dirty="0"/>
              <a:t>Experience, Engagement &amp; Satisfaction tables.</a:t>
            </a:r>
          </a:p>
          <a:p>
            <a:endParaRPr lang="en-IN" sz="1400" b="1" dirty="0"/>
          </a:p>
          <a:p>
            <a:r>
              <a:rPr lang="en-US" sz="1400" b="1" dirty="0"/>
              <a:t>TOP-10 CUSTOMER VALIDATION</a:t>
            </a:r>
          </a:p>
          <a:p>
            <a:r>
              <a:rPr lang="en-US" sz="1400" b="1" dirty="0"/>
              <a:t>Top 10 customers identified using</a:t>
            </a:r>
          </a:p>
          <a:p>
            <a:r>
              <a:rPr lang="en-US" sz="1400" b="1" dirty="0"/>
              <a:t>Satisfaction Score in descending order.</a:t>
            </a:r>
            <a:endParaRPr lang="en-IN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606408-A2D8-C91A-E61B-7944415D55F1}"/>
              </a:ext>
            </a:extLst>
          </p:cNvPr>
          <p:cNvSpPr txBox="1"/>
          <p:nvPr/>
        </p:nvSpPr>
        <p:spPr>
          <a:xfrm>
            <a:off x="6885830" y="4412974"/>
            <a:ext cx="4921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ROW COUNT VALIDATION</a:t>
            </a:r>
          </a:p>
          <a:p>
            <a:r>
              <a:rPr lang="en-IN" sz="1600" b="1" dirty="0"/>
              <a:t>Experience: 106,856</a:t>
            </a:r>
          </a:p>
          <a:p>
            <a:r>
              <a:rPr lang="en-IN" sz="1600" b="1" dirty="0"/>
              <a:t>Engagement: 106,856</a:t>
            </a:r>
          </a:p>
          <a:p>
            <a:r>
              <a:rPr lang="en-IN" sz="1600" b="1" dirty="0"/>
              <a:t>Satisfaction: 106,856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A5BD79-2A52-15C8-B29B-F188850C57BF}"/>
              </a:ext>
            </a:extLst>
          </p:cNvPr>
          <p:cNvSpPr txBox="1"/>
          <p:nvPr/>
        </p:nvSpPr>
        <p:spPr>
          <a:xfrm>
            <a:off x="530351" y="6017239"/>
            <a:ext cx="8134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evidence from TelecomAnalytics database • Validation queries executed in SQL Server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671675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51516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Business Insights, Opportunities &amp; Limitations</a:t>
            </a:r>
            <a:r>
              <a:rPr lang="en-IN" dirty="0"/>
              <a:t> and Recommendation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Translate the analytical findings into actionable areas while keeping conclusions proportional to the available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What the data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474720" cy="31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Most customers are in the Low Engagement segment (79,971), followed by Medium (22,476) and High Engagement (4,409).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Gaming and Other are the dominant application traffic categories.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Experience differs across customer clusters; Cluster 1 has the highest mean throughput and lowest mean retransmission.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Satisfaction varies across two clusters, with Cluster 1 showing a higher average satisfaction score.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474720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Design targeted engagement initiatives for the large low-engagement population.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Prioritize network diagnostics and QoS improvements for weaker-experience segments.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Use application and handset usage patterns to guide service optimization and compatibility testing.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Track engagement and experience jointly to identify priority customer segments.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9244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Limitations /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91640"/>
            <a:ext cx="3383280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Satisfaction is a derived analytical index, not a survey measure.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Regression performance is deterministic because Satisfaction Score is mathematically derived from its predictors.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Cluster interpretations are descriptive and depend on selected features and K.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Observed cluster and handset differences are descriptive patterns and should not be interpreted as causal effects.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ADE2B-AD1C-C67E-4577-329737E67BBB}"/>
              </a:ext>
            </a:extLst>
          </p:cNvPr>
          <p:cNvSpPr txBox="1"/>
          <p:nvPr/>
        </p:nvSpPr>
        <p:spPr>
          <a:xfrm>
            <a:off x="7818120" y="4330090"/>
            <a:ext cx="49834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RECOMMENDATION</a:t>
            </a:r>
          </a:p>
          <a:p>
            <a:endParaRPr lang="en-US" sz="1200" b="1" dirty="0"/>
          </a:p>
          <a:p>
            <a:r>
              <a:rPr lang="en-US" sz="1200" b="1" dirty="0"/>
              <a:t>Growth potential:</a:t>
            </a:r>
          </a:p>
          <a:p>
            <a:r>
              <a:rPr lang="en-US" sz="1200" b="1" dirty="0"/>
              <a:t>The analysis indicates identifiable growth opportunities through</a:t>
            </a:r>
          </a:p>
          <a:p>
            <a:r>
              <a:rPr lang="en-US" sz="1200" b="1" dirty="0"/>
              <a:t>customer engagement initiatives, network-quality improvements</a:t>
            </a:r>
          </a:p>
          <a:p>
            <a:r>
              <a:rPr lang="en-US" sz="1200" b="1" dirty="0"/>
              <a:t>and service optimization.</a:t>
            </a:r>
          </a:p>
          <a:p>
            <a:endParaRPr lang="en-US" sz="1200" b="1" dirty="0"/>
          </a:p>
          <a:p>
            <a:r>
              <a:rPr lang="en-US" sz="1200" b="1" dirty="0"/>
              <a:t>Purchase consideration:</a:t>
            </a:r>
          </a:p>
          <a:p>
            <a:r>
              <a:rPr lang="en-US" sz="1200" b="1" dirty="0"/>
              <a:t>A purchase decision should be conditional on satisfactory</a:t>
            </a:r>
          </a:p>
          <a:p>
            <a:r>
              <a:rPr lang="en-US" sz="1200" b="1" dirty="0"/>
              <a:t>financial, commercial and operational due diligence beyond</a:t>
            </a:r>
          </a:p>
          <a:p>
            <a:r>
              <a:rPr lang="en-US" sz="1200" b="1" dirty="0"/>
              <a:t>this dataset.</a:t>
            </a:r>
            <a:endParaRPr lang="en-IN" sz="12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E34DDC-6C3E-128A-6C27-9107CD82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792" y="4309146"/>
            <a:ext cx="3439233" cy="22928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5057361"/>
            <a:ext cx="1005840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8000" dirty="0"/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ABECD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1E7538-CC2F-91C7-E053-20442B1E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751" y="373711"/>
            <a:ext cx="5584467" cy="40869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3D59EE-6CC4-4ED5-5407-B7214729D56C}"/>
              </a:ext>
            </a:extLst>
          </p:cNvPr>
          <p:cNvSpPr txBox="1"/>
          <p:nvPr/>
        </p:nvSpPr>
        <p:spPr>
          <a:xfrm>
            <a:off x="453224" y="294198"/>
            <a:ext cx="59555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REFERENCES &amp; PROJECT SOURCES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Primary Project Sources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• Task 1 — Telecom Analytics / User Overview Notebook</a:t>
            </a:r>
          </a:p>
          <a:p>
            <a:r>
              <a:rPr lang="en-IN" dirty="0">
                <a:solidFill>
                  <a:schemeClr val="bg1"/>
                </a:solidFill>
              </a:rPr>
              <a:t>• Task 2 — User Engagement Analysis Notebook</a:t>
            </a:r>
          </a:p>
          <a:p>
            <a:r>
              <a:rPr lang="en-IN" dirty="0">
                <a:solidFill>
                  <a:schemeClr val="bg1"/>
                </a:solidFill>
              </a:rPr>
              <a:t>• Task 3 — Experience Analytics Notebook</a:t>
            </a:r>
          </a:p>
          <a:p>
            <a:r>
              <a:rPr lang="en-IN" dirty="0">
                <a:solidFill>
                  <a:schemeClr val="bg1"/>
                </a:solidFill>
              </a:rPr>
              <a:t>• Task 4 — User Satisfaction Analysis Notebook</a:t>
            </a:r>
          </a:p>
          <a:p>
            <a:r>
              <a:rPr lang="en-IN" dirty="0">
                <a:solidFill>
                  <a:schemeClr val="bg1"/>
                </a:solidFill>
              </a:rPr>
              <a:t>• Project 5 — Project Guidelines / Classroom Instructions</a:t>
            </a:r>
          </a:p>
          <a:p>
            <a:r>
              <a:rPr lang="en-IN" dirty="0">
                <a:solidFill>
                  <a:schemeClr val="bg1"/>
                </a:solidFill>
              </a:rPr>
              <a:t>  (Nexthikes IT Solutions)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Technical Tools &amp; Integration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• Python: Pandas, NumPy, Matplotlib, Seaborn, Scikit-learn</a:t>
            </a:r>
          </a:p>
          <a:p>
            <a:r>
              <a:rPr lang="en-IN" dirty="0">
                <a:solidFill>
                  <a:schemeClr val="bg1"/>
                </a:solidFill>
              </a:rPr>
              <a:t>• SQL Server / SQLAlchemy / pyodbc integration evidence from Task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2648</Words>
  <Application>Microsoft Office PowerPoint</Application>
  <PresentationFormat>Widescreen</PresentationFormat>
  <Paragraphs>528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kiran jadoun</cp:lastModifiedBy>
  <cp:revision>2</cp:revision>
  <dcterms:created xsi:type="dcterms:W3CDTF">2013-01-27T09:14:16Z</dcterms:created>
  <dcterms:modified xsi:type="dcterms:W3CDTF">2026-10-01T12:51:36Z</dcterms:modified>
  <cp:category/>
</cp:coreProperties>
</file>